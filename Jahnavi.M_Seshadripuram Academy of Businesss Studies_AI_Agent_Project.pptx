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FF31CD-F836-446F-8BFA-91C700AA10F8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4D9DC8-632F-4E99-95B3-DA3516BDE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4606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4D9DC8-632F-4E99-95B3-DA3516BDE24E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81191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B29E3-6218-452F-9613-1227DFB19F00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E81B42EE-7436-4649-B9D0-2541F79D4D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08513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B29E3-6218-452F-9613-1227DFB19F00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42EE-7436-4649-B9D0-2541F79D4D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5284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B29E3-6218-452F-9613-1227DFB19F00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81B42EE-7436-4649-B9D0-2541F79D4D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6777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B29E3-6218-452F-9613-1227DFB19F00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81B42EE-7436-4649-B9D0-2541F79D4D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8683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B29E3-6218-452F-9613-1227DFB19F00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81B42EE-7436-4649-B9D0-2541F79D4D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0378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B29E3-6218-452F-9613-1227DFB19F00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42EE-7436-4649-B9D0-2541F79D4D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4606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B29E3-6218-452F-9613-1227DFB19F00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42EE-7436-4649-B9D0-2541F79D4D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4835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B29E3-6218-452F-9613-1227DFB19F00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42EE-7436-4649-B9D0-2541F79D4D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4805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B29E3-6218-452F-9613-1227DFB19F00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81B42EE-7436-4649-B9D0-2541F79D4D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8463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B29E3-6218-452F-9613-1227DFB19F00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81B42EE-7436-4649-B9D0-2541F79D4D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3993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B29E3-6218-452F-9613-1227DFB19F00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81B42EE-7436-4649-B9D0-2541F79D4D0F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055230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B29E3-6218-452F-9613-1227DFB19F00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81B42EE-7436-4649-B9D0-2541F79D4D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64251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B29E3-6218-452F-9613-1227DFB19F00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81B42EE-7436-4649-B9D0-2541F79D4D0F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840870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B29E3-6218-452F-9613-1227DFB19F00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81B42EE-7436-4649-B9D0-2541F79D4D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04046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B29E3-6218-452F-9613-1227DFB19F00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42EE-7436-4649-B9D0-2541F79D4D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24653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B29E3-6218-452F-9613-1227DFB19F00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42EE-7436-4649-B9D0-2541F79D4D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3768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5B29E3-6218-452F-9613-1227DFB19F00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E81B42EE-7436-4649-B9D0-2541F79D4D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5253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  <p:sldLayoutId id="2147483761" r:id="rId12"/>
    <p:sldLayoutId id="2147483762" r:id="rId13"/>
    <p:sldLayoutId id="2147483763" r:id="rId14"/>
    <p:sldLayoutId id="2147483764" r:id="rId15"/>
    <p:sldLayoutId id="214748376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Jahnavi-Analyst/AI-Agent" TargetMode="Externa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BA1BA-800E-AC23-30B3-07ACCB7022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40285" y="236465"/>
            <a:ext cx="8915399" cy="1130219"/>
          </a:xfrm>
        </p:spPr>
        <p:txBody>
          <a:bodyPr>
            <a:noAutofit/>
          </a:bodyPr>
          <a:lstStyle/>
          <a:p>
            <a:pPr algn="ctr"/>
            <a:r>
              <a:rPr lang="en-US" sz="4000" dirty="0">
                <a:latin typeface="Abhaya Libre ExtraBold" panose="02000803000000000000" pitchFamily="2" charset="0"/>
                <a:cs typeface="Abhaya Libre ExtraBold" panose="02000803000000000000" pitchFamily="2" charset="0"/>
              </a:rPr>
              <a:t>LUNA – AI Powered Virtual Assistant for SABS College</a:t>
            </a:r>
            <a:endParaRPr lang="en-IN" sz="4000" dirty="0">
              <a:latin typeface="Abhaya Libre ExtraBold" panose="02000803000000000000" pitchFamily="2" charset="0"/>
              <a:cs typeface="Abhaya Libre ExtraBold" panose="02000803000000000000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044BC9-EE4D-B017-E01D-343069599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198986"/>
            <a:ext cx="12192000" cy="335395"/>
          </a:xfrm>
        </p:spPr>
        <p:txBody>
          <a:bodyPr>
            <a:noAutofit/>
          </a:bodyPr>
          <a:lstStyle/>
          <a:p>
            <a:pPr algn="ctr"/>
            <a:r>
              <a:rPr lang="en-US" sz="2000" dirty="0"/>
              <a:t>IBM </a:t>
            </a:r>
            <a:r>
              <a:rPr lang="en-US" sz="2000" dirty="0" err="1"/>
              <a:t>SkillsBuild</a:t>
            </a:r>
            <a:r>
              <a:rPr lang="en-US" sz="2000" dirty="0"/>
              <a:t> Winter Certification Program Applied Artificial Intelligence</a:t>
            </a:r>
            <a:endParaRPr lang="en-IN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56E8AE-43EA-CE7B-EBCF-95B426A0F091}"/>
              </a:ext>
            </a:extLst>
          </p:cNvPr>
          <p:cNvSpPr txBox="1"/>
          <p:nvPr/>
        </p:nvSpPr>
        <p:spPr>
          <a:xfrm>
            <a:off x="8514734" y="5053781"/>
            <a:ext cx="339914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Name: </a:t>
            </a:r>
            <a:r>
              <a:rPr lang="en-IN" dirty="0" err="1"/>
              <a:t>Jahnavi.M</a:t>
            </a:r>
            <a:br>
              <a:rPr lang="en-IN" dirty="0"/>
            </a:br>
            <a:r>
              <a:rPr lang="en-IN" dirty="0"/>
              <a:t>Course: </a:t>
            </a:r>
            <a:r>
              <a:rPr lang="en-IN" dirty="0" err="1"/>
              <a:t>Persuing</a:t>
            </a:r>
            <a:r>
              <a:rPr lang="en-IN" dirty="0"/>
              <a:t> BCA </a:t>
            </a:r>
            <a:br>
              <a:rPr lang="en-IN" dirty="0"/>
            </a:br>
            <a:r>
              <a:rPr lang="en-IN" dirty="0"/>
              <a:t>College : </a:t>
            </a:r>
            <a:r>
              <a:rPr lang="en-IN" dirty="0" err="1"/>
              <a:t>Seshadripuram</a:t>
            </a:r>
            <a:r>
              <a:rPr lang="en-IN" dirty="0"/>
              <a:t> Academy of Business Studies</a:t>
            </a:r>
            <a:br>
              <a:rPr lang="en-IN" dirty="0"/>
            </a:b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0E53169-DD98-3486-6759-7E693F03D2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5419" y="1632156"/>
            <a:ext cx="4257369" cy="507781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400717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7D29E7-6EFC-640A-7429-F6F6A6BB55A4}"/>
              </a:ext>
            </a:extLst>
          </p:cNvPr>
          <p:cNvSpPr txBox="1"/>
          <p:nvPr/>
        </p:nvSpPr>
        <p:spPr>
          <a:xfrm>
            <a:off x="1700981" y="688259"/>
            <a:ext cx="94684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dirty="0">
                <a:latin typeface="Abhaya Libre ExtraBold" panose="02000803000000000000" pitchFamily="2" charset="0"/>
                <a:cs typeface="Abhaya Libre ExtraBold" panose="02000803000000000000" pitchFamily="2" charset="0"/>
              </a:rPr>
              <a:t>INTRODUCTION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2B4C7C-E184-B54B-5382-D0E96323AB29}"/>
              </a:ext>
            </a:extLst>
          </p:cNvPr>
          <p:cNvSpPr txBox="1"/>
          <p:nvPr/>
        </p:nvSpPr>
        <p:spPr>
          <a:xfrm>
            <a:off x="2487562" y="1917291"/>
            <a:ext cx="891785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Bahnschrift Light" panose="020B0502040204020203" pitchFamily="34" charset="0"/>
                <a:cs typeface="Abhaya Libre ExtraBold" panose="02000803000000000000" pitchFamily="2" charset="0"/>
              </a:rPr>
              <a:t>Luna is an AI-powered virtual assistant developed using Python to support students and visitors of SABS College.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Bahnschrift Light" panose="020B0502040204020203" pitchFamily="34" charset="0"/>
                <a:cs typeface="Abhaya Libre ExtraBold" panose="02000803000000000000" pitchFamily="2" charset="0"/>
              </a:rPr>
              <a:t>It is designed to provide instant and accurate information related to admissions, courses, events, placements, facilities, and other college-related queries.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Bahnschrift Light" panose="020B0502040204020203" pitchFamily="34" charset="0"/>
                <a:cs typeface="Abhaya Libre ExtraBold" panose="02000803000000000000" pitchFamily="2" charset="0"/>
              </a:rPr>
              <a:t>The chatbot uses Artificial Intelligence techniques such as Natural Language Processing (NLP), sentiment analysis, and speech recognition to interact with users in a human-like manner.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0759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A1F2A3-D1F6-A52A-98C7-5FB3DD22ACD8}"/>
              </a:ext>
            </a:extLst>
          </p:cNvPr>
          <p:cNvSpPr txBox="1"/>
          <p:nvPr/>
        </p:nvSpPr>
        <p:spPr>
          <a:xfrm>
            <a:off x="2271251" y="589935"/>
            <a:ext cx="83279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dirty="0">
                <a:latin typeface="Abhaya Libre ExtraBold" panose="02000803000000000000" pitchFamily="2" charset="0"/>
                <a:cs typeface="Abhaya Libre ExtraBold" panose="02000803000000000000" pitchFamily="2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D8F774-ED4A-F956-E2AC-549E2C479F6D}"/>
              </a:ext>
            </a:extLst>
          </p:cNvPr>
          <p:cNvSpPr txBox="1"/>
          <p:nvPr/>
        </p:nvSpPr>
        <p:spPr>
          <a:xfrm>
            <a:off x="2438401" y="1920029"/>
            <a:ext cx="8780206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Bahnschrift Light" panose="020B0502040204020203" pitchFamily="34" charset="0"/>
                <a:cs typeface="Abhaya Libre ExtraBold" panose="02000803000000000000" pitchFamily="2" charset="0"/>
              </a:rPr>
              <a:t>In many educational institutions, students and visitors depend on static websites or manual enquiry systems to get information.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Bahnschrift Light" panose="020B0502040204020203" pitchFamily="34" charset="0"/>
                <a:cs typeface="Abhaya Libre ExtraBold" panose="02000803000000000000" pitchFamily="2" charset="0"/>
              </a:rPr>
              <a:t>These systems are often slow, confusing, and not available 24/7.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Bahnschrift Light" panose="020B0502040204020203" pitchFamily="34" charset="0"/>
                <a:cs typeface="Abhaya Libre ExtraBold" panose="02000803000000000000" pitchFamily="2" charset="0"/>
              </a:rPr>
              <a:t>Students face difficulty in finding quick answers regarding admissions, courses, events, and placements, which leads to delays and frustration.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8166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F8B154-6CA9-3B1B-111A-EBDC5C922739}"/>
              </a:ext>
            </a:extLst>
          </p:cNvPr>
          <p:cNvSpPr txBox="1"/>
          <p:nvPr/>
        </p:nvSpPr>
        <p:spPr>
          <a:xfrm>
            <a:off x="2271251" y="589935"/>
            <a:ext cx="83279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dirty="0">
                <a:latin typeface="Abhaya Libre ExtraBold" panose="02000803000000000000" pitchFamily="2" charset="0"/>
                <a:cs typeface="Abhaya Libre ExtraBold" panose="02000803000000000000" pitchFamily="2" charset="0"/>
              </a:rPr>
              <a:t>USE CASE SELECTION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591571-71AB-8C7D-28AC-0EBDC9B85237}"/>
              </a:ext>
            </a:extLst>
          </p:cNvPr>
          <p:cNvSpPr txBox="1"/>
          <p:nvPr/>
        </p:nvSpPr>
        <p:spPr>
          <a:xfrm>
            <a:off x="2369574" y="1691148"/>
            <a:ext cx="9016181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Bahnschrift Light" panose="020B0502040204020203" pitchFamily="34" charset="0"/>
              </a:rPr>
              <a:t>Selected Use Case:</a:t>
            </a:r>
            <a:r>
              <a:rPr lang="en-US" sz="2400" dirty="0">
                <a:latin typeface="Bahnschrift Light" panose="020B0502040204020203" pitchFamily="34" charset="0"/>
              </a:rPr>
              <a:t> AI Chatbot / Q&amp;A Assistant</a:t>
            </a:r>
          </a:p>
          <a:p>
            <a:endParaRPr lang="en-US" sz="2400" dirty="0">
              <a:latin typeface="Bahnschrift Light" panose="020B0502040204020203" pitchFamily="34" charset="0"/>
            </a:endParaRPr>
          </a:p>
          <a:p>
            <a:r>
              <a:rPr lang="en-US" sz="2400" b="1" dirty="0">
                <a:latin typeface="Bahnschrift Light" panose="020B0502040204020203" pitchFamily="34" charset="0"/>
              </a:rPr>
              <a:t>This use case was chosen because:</a:t>
            </a:r>
          </a:p>
          <a:p>
            <a:endParaRPr lang="en-US" sz="2400" b="1" dirty="0">
              <a:latin typeface="Bahnschrift Light" panose="020B05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Bahnschrift Light" panose="020B0502040204020203" pitchFamily="34" charset="0"/>
              </a:rPr>
              <a:t>It solves a real-world problem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Bahnschrift Light" panose="020B0502040204020203" pitchFamily="34" charset="0"/>
              </a:rPr>
              <a:t>It is widely used in education and business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Bahnschrift Light" panose="020B0502040204020203" pitchFamily="34" charset="0"/>
              </a:rPr>
              <a:t>It demonstrates automation and interactivity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Bahnschrift Light" panose="020B0502040204020203" pitchFamily="34" charset="0"/>
              </a:rPr>
              <a:t>It reduces human effort and response time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632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A699DB7-7613-E199-66A3-7B1A6C4FDE46}"/>
              </a:ext>
            </a:extLst>
          </p:cNvPr>
          <p:cNvSpPr txBox="1"/>
          <p:nvPr/>
        </p:nvSpPr>
        <p:spPr>
          <a:xfrm>
            <a:off x="1828800" y="501445"/>
            <a:ext cx="95372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dirty="0">
                <a:latin typeface="Abhaya Libre ExtraBold" panose="02000803000000000000" pitchFamily="2" charset="0"/>
                <a:cs typeface="Abhaya Libre ExtraBold" panose="02000803000000000000" pitchFamily="2" charset="0"/>
              </a:rPr>
              <a:t>AI AGENT DESIGN – WHAT LUNA DOES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E25211-B7DA-57EA-CC13-8D9EE5499B4B}"/>
              </a:ext>
            </a:extLst>
          </p:cNvPr>
          <p:cNvSpPr txBox="1"/>
          <p:nvPr/>
        </p:nvSpPr>
        <p:spPr>
          <a:xfrm>
            <a:off x="2644877" y="2300749"/>
            <a:ext cx="863272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Bahnschrift Light" panose="020B0502040204020203" pitchFamily="34" charset="0"/>
              </a:rPr>
              <a:t>The Luna chatbot is designed to: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Bahnschrift Light" panose="020B0502040204020203" pitchFamily="34" charset="0"/>
              </a:rPr>
              <a:t>Answer frequently asked questions about the college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Bahnschrift Light" panose="020B0502040204020203" pitchFamily="34" charset="0"/>
              </a:rPr>
              <a:t>Understand user intent using keyword-based NLP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Bahnschrift Light" panose="020B0502040204020203" pitchFamily="34" charset="0"/>
              </a:rPr>
              <a:t>Detect user emotions and respond with emojis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Bahnschrift Light" panose="020B0502040204020203" pitchFamily="34" charset="0"/>
              </a:rPr>
              <a:t>Convert voice input into text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Bahnschrift Light" panose="020B0502040204020203" pitchFamily="34" charset="0"/>
              </a:rPr>
              <a:t>Translate different languages into English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20518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7895429-2BB4-B3A4-59E9-1FE1D445AAEA}"/>
              </a:ext>
            </a:extLst>
          </p:cNvPr>
          <p:cNvSpPr txBox="1"/>
          <p:nvPr/>
        </p:nvSpPr>
        <p:spPr>
          <a:xfrm>
            <a:off x="2576052" y="570271"/>
            <a:ext cx="81607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dirty="0">
                <a:latin typeface="Abhaya Libre ExtraBold" panose="02000803000000000000" pitchFamily="2" charset="0"/>
                <a:cs typeface="Abhaya Libre ExtraBold" panose="02000803000000000000" pitchFamily="2" charset="0"/>
              </a:rPr>
              <a:t>AI CONCEPTS USED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8F9CC8-F8D7-9868-7C2C-8FDC22BEA322}"/>
              </a:ext>
            </a:extLst>
          </p:cNvPr>
          <p:cNvSpPr txBox="1"/>
          <p:nvPr/>
        </p:nvSpPr>
        <p:spPr>
          <a:xfrm>
            <a:off x="2900517" y="1951672"/>
            <a:ext cx="8160774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Bahnschrift Light" panose="020B0502040204020203" pitchFamily="34" charset="0"/>
              </a:rPr>
              <a:t>The following AI concepts are used in this project: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Bahnschrift Light" panose="020B0502040204020203" pitchFamily="34" charset="0"/>
              </a:rPr>
              <a:t>Natural Language Processing (NLP) for understanding text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Bahnschrift Light" panose="020B0502040204020203" pitchFamily="34" charset="0"/>
              </a:rPr>
              <a:t>Rule-based logic for decision making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Bahnschrift Light" panose="020B0502040204020203" pitchFamily="34" charset="0"/>
              </a:rPr>
              <a:t>Sentiment Analysis to detect user emotions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Bahnschrift Light" panose="020B0502040204020203" pitchFamily="34" charset="0"/>
              </a:rPr>
              <a:t>Speech Recognition for voice input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Bahnschrift Light" panose="020B0502040204020203" pitchFamily="34" charset="0"/>
              </a:rPr>
              <a:t>Automation through Flask backend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12375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6EC6C28-1EC5-3FFB-5241-3B595AA4BA63}"/>
              </a:ext>
            </a:extLst>
          </p:cNvPr>
          <p:cNvSpPr txBox="1"/>
          <p:nvPr/>
        </p:nvSpPr>
        <p:spPr>
          <a:xfrm>
            <a:off x="3372465" y="619432"/>
            <a:ext cx="74921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latin typeface="Abhaya Libre ExtraBold" panose="02000803000000000000" pitchFamily="2" charset="0"/>
                <a:cs typeface="Abhaya Libre ExtraBold" panose="02000803000000000000" pitchFamily="2" charset="0"/>
              </a:rPr>
              <a:t>TOOLS &amp; TECHNOLOGIES USED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C3EAB2-7486-1B10-5333-9858C41A47A7}"/>
              </a:ext>
            </a:extLst>
          </p:cNvPr>
          <p:cNvSpPr txBox="1"/>
          <p:nvPr/>
        </p:nvSpPr>
        <p:spPr>
          <a:xfrm>
            <a:off x="2674375" y="4906327"/>
            <a:ext cx="6980903" cy="2821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EF58181D-9196-51E9-7BE6-5B428D3628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4142" y="1545867"/>
            <a:ext cx="7275871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Programming Language: Python 3.10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Backend Framework: Flask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AI Libraries: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SpeechRecognition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Ligh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TextBlob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Ligh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Deep Translator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Frontend Technologies: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HTML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CSS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JavaScript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41845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C6ED75-9E5C-2ECF-A0DB-35C7EF74C73C}"/>
              </a:ext>
            </a:extLst>
          </p:cNvPr>
          <p:cNvSpPr txBox="1"/>
          <p:nvPr/>
        </p:nvSpPr>
        <p:spPr>
          <a:xfrm>
            <a:off x="2231923" y="491613"/>
            <a:ext cx="90161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dirty="0">
                <a:latin typeface="Abhaya Libre ExtraBold" panose="02000803000000000000" pitchFamily="2" charset="0"/>
                <a:cs typeface="Abhaya Libre ExtraBold" panose="02000803000000000000" pitchFamily="2" charset="0"/>
              </a:rPr>
              <a:t>CODE SUMMARY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EFFADE-0703-CEC2-E268-C9773BAB69F0}"/>
              </a:ext>
            </a:extLst>
          </p:cNvPr>
          <p:cNvSpPr txBox="1"/>
          <p:nvPr/>
        </p:nvSpPr>
        <p:spPr>
          <a:xfrm>
            <a:off x="1533832" y="1199499"/>
            <a:ext cx="10038736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ahnschrift Light" panose="020B0502040204020203" pitchFamily="34" charset="0"/>
              </a:rPr>
              <a:t>The Luna AI agent is developed using Python and Flask.</a:t>
            </a:r>
            <a:br>
              <a:rPr lang="en-US" sz="2000" dirty="0">
                <a:latin typeface="Bahnschrift Light" panose="020B0502040204020203" pitchFamily="34" charset="0"/>
              </a:rPr>
            </a:br>
            <a:r>
              <a:rPr lang="en-US" sz="2000" dirty="0">
                <a:latin typeface="Bahnschrift Light" panose="020B0502040204020203" pitchFamily="34" charset="0"/>
              </a:rPr>
              <a:t>The code is structured in a modular way to handle user interaction, AI processing, and response generation.</a:t>
            </a:r>
            <a:br>
              <a:rPr lang="en-US" sz="2000" dirty="0">
                <a:latin typeface="Bahnschrift Light" panose="020B0502040204020203" pitchFamily="34" charset="0"/>
              </a:rPr>
            </a:br>
            <a:r>
              <a:rPr lang="en-US" sz="2000" dirty="0">
                <a:latin typeface="Bahnschrift Light" panose="020B0502040204020203" pitchFamily="34" charset="0"/>
              </a:rPr>
              <a:t>It integrates natural language processing, sentiment analysis, speech recognition, and automation, making it a functional AI agent suitable for real-world applications.</a:t>
            </a:r>
          </a:p>
          <a:p>
            <a:r>
              <a:rPr lang="en-IN" sz="2000" dirty="0">
                <a:latin typeface="Bahnschrift Light" panose="020B0502040204020203" pitchFamily="34" charset="0"/>
              </a:rPr>
              <a:t>The backend uses Flask to manage API routes and server communication.</a:t>
            </a:r>
            <a:br>
              <a:rPr lang="en-IN" sz="2000" dirty="0">
                <a:latin typeface="Bahnschrift Light" panose="020B0502040204020203" pitchFamily="34" charset="0"/>
              </a:rPr>
            </a:br>
            <a:r>
              <a:rPr lang="en-IN" sz="2000" dirty="0">
                <a:latin typeface="Bahnschrift Light" panose="020B0502040204020203" pitchFamily="34" charset="0"/>
              </a:rPr>
              <a:t>Rule-based NLP logic is implemented to identify user intent using keywords.</a:t>
            </a:r>
            <a:br>
              <a:rPr lang="en-IN" sz="2000" dirty="0">
                <a:latin typeface="Bahnschrift Light" panose="020B0502040204020203" pitchFamily="34" charset="0"/>
              </a:rPr>
            </a:br>
            <a:r>
              <a:rPr lang="en-IN" sz="2000" dirty="0" err="1">
                <a:latin typeface="Bahnschrift Light" panose="020B0502040204020203" pitchFamily="34" charset="0"/>
              </a:rPr>
              <a:t>TextBlob</a:t>
            </a:r>
            <a:r>
              <a:rPr lang="en-IN" sz="2000" dirty="0">
                <a:latin typeface="Bahnschrift Light" panose="020B0502040204020203" pitchFamily="34" charset="0"/>
              </a:rPr>
              <a:t> is used for sentiment analysis to detect emotions.</a:t>
            </a:r>
            <a:br>
              <a:rPr lang="en-IN" sz="2000" dirty="0">
                <a:latin typeface="Bahnschrift Light" panose="020B0502040204020203" pitchFamily="34" charset="0"/>
              </a:rPr>
            </a:br>
            <a:r>
              <a:rPr lang="en-IN" sz="2000" dirty="0" err="1">
                <a:latin typeface="Bahnschrift Light" panose="020B0502040204020203" pitchFamily="34" charset="0"/>
              </a:rPr>
              <a:t>SpeechRecognition</a:t>
            </a:r>
            <a:r>
              <a:rPr lang="en-IN" sz="2000" dirty="0">
                <a:latin typeface="Bahnschrift Light" panose="020B0502040204020203" pitchFamily="34" charset="0"/>
              </a:rPr>
              <a:t> handles voice input, and a translation module supports multilingual users.</a:t>
            </a:r>
            <a:br>
              <a:rPr lang="en-IN" sz="2000" dirty="0">
                <a:latin typeface="Bahnschrift Light" panose="020B0502040204020203" pitchFamily="34" charset="0"/>
              </a:rPr>
            </a:br>
            <a:r>
              <a:rPr lang="en-IN" sz="2000" dirty="0">
                <a:latin typeface="Bahnschrift Light" panose="020B0502040204020203" pitchFamily="34" charset="0"/>
              </a:rPr>
              <a:t>Random response selection makes the chatbot’s replies feel natural.</a:t>
            </a:r>
          </a:p>
          <a:p>
            <a:r>
              <a:rPr lang="en-US" sz="2000" dirty="0">
                <a:latin typeface="Bahnschrift Light" panose="020B0502040204020203" pitchFamily="34" charset="0"/>
              </a:rPr>
              <a:t>First, the user provides input either through text or voice.</a:t>
            </a:r>
            <a:br>
              <a:rPr lang="en-US" sz="2000" dirty="0">
                <a:latin typeface="Bahnschrift Light" panose="020B0502040204020203" pitchFamily="34" charset="0"/>
              </a:rPr>
            </a:br>
            <a:r>
              <a:rPr lang="en-US" sz="2000" dirty="0">
                <a:latin typeface="Bahnschrift Light" panose="020B0502040204020203" pitchFamily="34" charset="0"/>
              </a:rPr>
              <a:t>If the input is in another language, it is translated into English.</a:t>
            </a:r>
            <a:br>
              <a:rPr lang="en-US" sz="2000" dirty="0">
                <a:latin typeface="Bahnschrift Light" panose="020B0502040204020203" pitchFamily="34" charset="0"/>
              </a:rPr>
            </a:br>
            <a:r>
              <a:rPr lang="en-US" sz="2000" dirty="0">
                <a:latin typeface="Bahnschrift Light" panose="020B0502040204020203" pitchFamily="34" charset="0"/>
              </a:rPr>
              <a:t>The sentiment of the message is analyzed to understand the user’s emotion.</a:t>
            </a:r>
            <a:br>
              <a:rPr lang="en-US" sz="2000" dirty="0">
                <a:latin typeface="Bahnschrift Light" panose="020B0502040204020203" pitchFamily="34" charset="0"/>
              </a:rPr>
            </a:br>
            <a:r>
              <a:rPr lang="en-US" sz="2000" dirty="0">
                <a:latin typeface="Bahnschrift Light" panose="020B0502040204020203" pitchFamily="34" charset="0"/>
              </a:rPr>
              <a:t>The chatbot then detects intent using keywords and selects an appropriate response.</a:t>
            </a:r>
            <a:br>
              <a:rPr lang="en-US" sz="2000" dirty="0">
                <a:latin typeface="Bahnschrift Light" panose="020B0502040204020203" pitchFamily="34" charset="0"/>
              </a:rPr>
            </a:br>
            <a:r>
              <a:rPr lang="en-US" sz="2000" dirty="0">
                <a:latin typeface="Bahnschrift Light" panose="020B0502040204020203" pitchFamily="34" charset="0"/>
              </a:rPr>
              <a:t>An emoji is added based on sentiment, and the final response is displayed to the user.</a:t>
            </a:r>
            <a:endParaRPr lang="en-IN" sz="2000" dirty="0">
              <a:latin typeface="Bahnschrift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07555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B1EF1D-D228-F546-EB96-A1CBF1930F2D}"/>
              </a:ext>
            </a:extLst>
          </p:cNvPr>
          <p:cNvSpPr txBox="1"/>
          <p:nvPr/>
        </p:nvSpPr>
        <p:spPr>
          <a:xfrm>
            <a:off x="2192594" y="658761"/>
            <a:ext cx="87212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dirty="0">
                <a:latin typeface="Abhaya Libre ExtraBold" panose="02000803000000000000" pitchFamily="2" charset="0"/>
                <a:cs typeface="Abhaya Libre ExtraBold" panose="02000803000000000000" pitchFamily="2" charset="0"/>
              </a:rPr>
              <a:t>DEMONSTRATION &amp; OUTPUT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36F78D-67A0-EE4C-3D17-0CEC9A00DA04}"/>
              </a:ext>
            </a:extLst>
          </p:cNvPr>
          <p:cNvSpPr txBox="1"/>
          <p:nvPr/>
        </p:nvSpPr>
        <p:spPr>
          <a:xfrm>
            <a:off x="2379406" y="1907459"/>
            <a:ext cx="7836309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Bahnschrift Light" panose="020B0502040204020203" pitchFamily="34" charset="0"/>
              </a:rPr>
              <a:t>The chatbot demonstrates: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Bahnschrift Light" panose="020B0502040204020203" pitchFamily="34" charset="0"/>
              </a:rPr>
              <a:t>Real-time question answering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Bahnschrift Light" panose="020B0502040204020203" pitchFamily="34" charset="0"/>
              </a:rPr>
              <a:t>Emotion-based emoji responses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Bahnschrift Light" panose="020B0502040204020203" pitchFamily="34" charset="0"/>
              </a:rPr>
              <a:t>Voice interaction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Bahnschrift Light" panose="020B0502040204020203" pitchFamily="34" charset="0"/>
              </a:rPr>
              <a:t>Fast and accurate output</a:t>
            </a:r>
            <a:br>
              <a:rPr lang="en-US" sz="2400" dirty="0">
                <a:latin typeface="Bahnschrift Light" panose="020B0502040204020203" pitchFamily="34" charset="0"/>
              </a:rPr>
            </a:br>
            <a:br>
              <a:rPr lang="en-US" sz="2400" dirty="0">
                <a:latin typeface="Bahnschrift Light" panose="020B0502040204020203" pitchFamily="34" charset="0"/>
              </a:rPr>
            </a:br>
            <a:r>
              <a:rPr lang="en-US" sz="2400" dirty="0">
                <a:latin typeface="Bahnschrift Light" panose="020B0502040204020203" pitchFamily="34" charset="0"/>
              </a:rPr>
              <a:t>Find the complete code and documents here: </a:t>
            </a:r>
            <a:br>
              <a:rPr lang="en-US" sz="2400" dirty="0">
                <a:latin typeface="Bahnschrift Light" panose="020B0502040204020203" pitchFamily="34" charset="0"/>
              </a:rPr>
            </a:br>
            <a:r>
              <a:rPr lang="en-US" dirty="0">
                <a:hlinkClick r:id="rId2"/>
              </a:rPr>
              <a:t>Jahnavi-Analyst/AI-Agent: Luna is an AI-powered chatbot built for SABS College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90711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8027D-F1B7-2126-98BD-147A5573E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6669" y="297068"/>
            <a:ext cx="9705308" cy="654083"/>
          </a:xfrm>
        </p:spPr>
        <p:txBody>
          <a:bodyPr>
            <a:noAutofit/>
          </a:bodyPr>
          <a:lstStyle/>
          <a:p>
            <a:pPr algn="ctr"/>
            <a:r>
              <a:rPr lang="en-IN" sz="4000" dirty="0">
                <a:latin typeface="Abhaya Libre ExtraBold" panose="02000803000000000000" pitchFamily="2" charset="0"/>
                <a:cs typeface="Abhaya Libre ExtraBold" panose="02000803000000000000" pitchFamily="2" charset="0"/>
              </a:rPr>
              <a:t>SCREENSHOTS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F2CD563-91D4-DD0E-FBD9-DA46E63DA01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59" b="6161"/>
          <a:stretch/>
        </p:blipFill>
        <p:spPr bwMode="auto">
          <a:xfrm>
            <a:off x="1994059" y="1248695"/>
            <a:ext cx="8728602" cy="5043949"/>
          </a:xfrm>
          <a:prstGeom prst="rect">
            <a:avLst/>
          </a:prstGeom>
          <a:ln w="12700">
            <a:solidFill>
              <a:schemeClr val="tx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1170323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5A832D-81BD-0804-BE33-9738B176D18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26" b="4883"/>
          <a:stretch/>
        </p:blipFill>
        <p:spPr bwMode="auto">
          <a:xfrm>
            <a:off x="5889522" y="3428999"/>
            <a:ext cx="5758815" cy="3074077"/>
          </a:xfrm>
          <a:prstGeom prst="rect">
            <a:avLst/>
          </a:prstGeom>
          <a:ln w="12700">
            <a:solidFill>
              <a:schemeClr val="tx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84FFBDE-9E1F-6CB3-8169-BFFC6A2E81B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21" b="6365"/>
          <a:stretch/>
        </p:blipFill>
        <p:spPr bwMode="auto">
          <a:xfrm>
            <a:off x="1785548" y="354923"/>
            <a:ext cx="5710555" cy="2958547"/>
          </a:xfrm>
          <a:prstGeom prst="rect">
            <a:avLst/>
          </a:prstGeom>
          <a:ln w="12700">
            <a:solidFill>
              <a:schemeClr val="tx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4119990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05AD563-86F8-46EA-647D-A84C74BF61E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06" b="5934"/>
          <a:stretch/>
        </p:blipFill>
        <p:spPr bwMode="auto">
          <a:xfrm>
            <a:off x="1774424" y="240521"/>
            <a:ext cx="5752465" cy="2940685"/>
          </a:xfrm>
          <a:prstGeom prst="rect">
            <a:avLst/>
          </a:prstGeom>
          <a:ln w="12700">
            <a:solidFill>
              <a:sysClr val="windowText" lastClr="000000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E9FFC78-14D9-9966-8C57-CDEBBAE9261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59" b="5614"/>
          <a:stretch/>
        </p:blipFill>
        <p:spPr bwMode="auto">
          <a:xfrm>
            <a:off x="5881124" y="3429000"/>
            <a:ext cx="5778500" cy="3188479"/>
          </a:xfrm>
          <a:prstGeom prst="rect">
            <a:avLst/>
          </a:prstGeom>
          <a:ln w="12700">
            <a:solidFill>
              <a:schemeClr val="tx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7507137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927EA6E-3C6E-E0F1-F43C-98209975D7D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25" b="5614"/>
          <a:stretch/>
        </p:blipFill>
        <p:spPr bwMode="auto">
          <a:xfrm>
            <a:off x="1693587" y="298224"/>
            <a:ext cx="5678170" cy="3042285"/>
          </a:xfrm>
          <a:prstGeom prst="rect">
            <a:avLst/>
          </a:prstGeom>
          <a:ln w="12700">
            <a:solidFill>
              <a:schemeClr val="tx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74314D7-9678-56E2-9911-C4CAAB8834A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79" b="6933"/>
          <a:stretch/>
        </p:blipFill>
        <p:spPr bwMode="auto">
          <a:xfrm>
            <a:off x="5876719" y="3517492"/>
            <a:ext cx="5708650" cy="3187700"/>
          </a:xfrm>
          <a:prstGeom prst="rect">
            <a:avLst/>
          </a:prstGeom>
          <a:ln w="12700">
            <a:solidFill>
              <a:schemeClr val="tx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106148738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95</TotalTime>
  <Words>568</Words>
  <Application>Microsoft Office PowerPoint</Application>
  <PresentationFormat>Widescreen</PresentationFormat>
  <Paragraphs>57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Abhaya Libre ExtraBold</vt:lpstr>
      <vt:lpstr>Arial</vt:lpstr>
      <vt:lpstr>Bahnschrift Light</vt:lpstr>
      <vt:lpstr>Calibri</vt:lpstr>
      <vt:lpstr>Century Gothic</vt:lpstr>
      <vt:lpstr>Wingdings 3</vt:lpstr>
      <vt:lpstr>Wisp</vt:lpstr>
      <vt:lpstr>LUNA – AI Powered Virtual Assistant for SABS College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SCREENSHOTS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Jahnavi M</dc:creator>
  <cp:lastModifiedBy>Jahnavi M</cp:lastModifiedBy>
  <cp:revision>1</cp:revision>
  <dcterms:created xsi:type="dcterms:W3CDTF">2025-12-28T08:47:16Z</dcterms:created>
  <dcterms:modified xsi:type="dcterms:W3CDTF">2025-12-28T10:22:33Z</dcterms:modified>
</cp:coreProperties>
</file>